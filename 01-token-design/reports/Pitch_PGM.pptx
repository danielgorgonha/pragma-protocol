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5B4FCF">
              <a:alpha val="12000"/>
            </a:srgbClr>
          </a:solidFill>
          <a:ln w="12700">
            <a:solidFill>
              <a:srgbClr val="7C6FF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5B4FCF">
              <a:alpha val="20000"/>
            </a:srgbClr>
          </a:solidFill>
          <a:ln w="12700">
            <a:solidFill>
              <a:srgbClr val="B8B2F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5B4FCF">
              <a:alpha val="40000"/>
            </a:srgbClr>
          </a:solidFill>
          <a:ln w="12700">
            <a:solidFill>
              <a:srgbClr val="7C6F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B8B2F8"/>
                </a:solidFill>
              </a:rPr>
              <a:t>ERC-20  ·  SEPOLIA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PRAGMA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B4F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41148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B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 PGM 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descentralizado de serviços Web3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977640"/>
            <a:ext cx="3200400" cy="18288"/>
          </a:xfrm>
          <a:prstGeom prst="rect">
            <a:avLst/>
          </a:prstGeom>
          <a:solidFill>
            <a:srgbClr val="5B4FCF">
              <a:alpha val="60000"/>
            </a:srgbClr>
          </a:solidFill>
          <a:ln w="12700">
            <a:solidFill>
              <a:srgbClr val="5B4FCF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FCF"/>
                </a:solidFill>
              </a:rPr>
              <a:t>O 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mercado de serviços Web3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não retém valor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2834640" cy="3063240"/>
          </a:xfrm>
          <a:prstGeom prst="rect">
            <a:avLst/>
          </a:prstGeom>
          <a:solidFill>
            <a:srgbClr val="16132B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37360"/>
            <a:ext cx="2834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019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 incentivo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permanência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Devs e clientes usam ETH ou stablecoins e saem do ecossistema sem deixar valor.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834640" cy="3063240"/>
          </a:xfrm>
          <a:prstGeom prst="rect">
            <a:avLst/>
          </a:prstGeom>
          <a:solidFill>
            <a:srgbClr val="16132B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73736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9019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 captura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valor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788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plataforma não acumula nenhum ativo próprio — zero flywheel.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834640" cy="3063240"/>
          </a:xfrm>
          <a:prstGeom prst="rect">
            <a:avLst/>
          </a:prstGeom>
          <a:solidFill>
            <a:srgbClr val="16132B"/>
          </a:solidFill>
          <a:ln w="12700">
            <a:solidFill>
              <a:srgbClr val="5B4FC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737360"/>
            <a:ext cx="2834640" cy="6400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019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 alinhamento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incentivos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788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Prestadores e compradores não têm razão econômica para fidelidade.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FCF"/>
                </a:solidFill>
              </a:rPr>
              <a:t>A SOLUÇÃO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PGM — o token nativo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Pragma Protocol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4114800" cy="2926080"/>
          </a:xfrm>
          <a:prstGeom prst="rect">
            <a:avLst/>
          </a:prstGeom>
          <a:solidFill>
            <a:srgbClr val="1E1A3A"/>
          </a:solidFill>
          <a:ln w="12700">
            <a:solidFill>
              <a:srgbClr val="14B8A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41148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1097280" cy="237744"/>
          </a:xfrm>
          <a:prstGeom prst="rect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PAGAMENTO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Meio de troca nativo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Todas as transações do marketplace — contratação, milestones e taxas — são liquidadas em PGM.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plataforma retém 2% por transação → reserva do ecossistema.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114800" cy="2926080"/>
          </a:xfrm>
          <a:prstGeom prst="rect">
            <a:avLst/>
          </a:prstGeom>
          <a:solidFill>
            <a:srgbClr val="1E1A3A"/>
          </a:solidFill>
          <a:ln w="12700">
            <a:solidFill>
              <a:srgbClr val="7C6FF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28800"/>
            <a:ext cx="4114800" cy="64008"/>
          </a:xfrm>
          <a:prstGeom prst="rect">
            <a:avLst/>
          </a:prstGeom>
          <a:solidFill>
            <a:srgbClr val="7C6FF0"/>
          </a:solidFill>
          <a:ln w="12700">
            <a:solidFill>
              <a:srgbClr val="7C6F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011680"/>
            <a:ext cx="1097280" cy="237744"/>
          </a:xfrm>
          <a:prstGeom prst="rect">
            <a:avLst/>
          </a:prstGeom>
          <a:solidFill>
            <a:srgbClr val="7C6FF0">
              <a:alpha val="30000"/>
            </a:srgbClr>
          </a:solidFill>
          <a:ln w="12700">
            <a:solidFill>
              <a:srgbClr val="7C6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116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C6FF0"/>
                </a:solidFill>
              </a:rPr>
              <a:t>ACESSO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23408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Utility gate premium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28803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Prestadores com 500+ PGM: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Taxa reduzida: 1%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Destaque nas listagens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Prioridade em novos clientes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Compradores com 200+ PGM: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Acesso a prestadores verificados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FCF"/>
                </a:solidFill>
              </a:rPr>
              <a:t>TOKENOMICS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 fixo · Distribuição estratégica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926080" cy="1371600"/>
          </a:xfrm>
          <a:prstGeom prst="rect">
            <a:avLst/>
          </a:prstGeom>
          <a:solidFill>
            <a:srgbClr val="16132B"/>
          </a:solidFill>
          <a:ln w="12700">
            <a:solidFill>
              <a:srgbClr val="5B4FC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447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4F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10.000.000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20848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PGM  —  Supply Total Fixo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mint após deploy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261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 Pública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563624"/>
            <a:ext cx="5303520" cy="237744"/>
          </a:xfrm>
          <a:prstGeom prst="rect">
            <a:avLst/>
          </a:prstGeom>
          <a:solidFill>
            <a:srgbClr val="1E1A3A"/>
          </a:solidFill>
          <a:ln w="12700">
            <a:solidFill>
              <a:srgbClr val="1E1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563624"/>
            <a:ext cx="2121408" cy="23774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154533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 ·  4.000.000 PGM  ·  Sem vesting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975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Ecossistema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2276856"/>
            <a:ext cx="5303520" cy="237744"/>
          </a:xfrm>
          <a:prstGeom prst="rect">
            <a:avLst/>
          </a:prstGeom>
          <a:solidFill>
            <a:srgbClr val="1E1A3A"/>
          </a:solidFill>
          <a:ln w="12700">
            <a:solidFill>
              <a:srgbClr val="1E1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276856"/>
            <a:ext cx="1591056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225856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  ·  3.000.000 PGM  ·  Gradual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26883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2990088"/>
            <a:ext cx="5303520" cy="237744"/>
          </a:xfrm>
          <a:prstGeom prst="rect">
            <a:avLst/>
          </a:prstGeom>
          <a:solidFill>
            <a:srgbClr val="1E1A3A"/>
          </a:solidFill>
          <a:ln w="12700">
            <a:solidFill>
              <a:srgbClr val="1E1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990088"/>
            <a:ext cx="106070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97180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  ·  2.000.000 PGM  ·  12m cliff + 24m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401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3703320"/>
            <a:ext cx="5303520" cy="237744"/>
          </a:xfrm>
          <a:prstGeom prst="rect">
            <a:avLst/>
          </a:prstGeom>
          <a:solidFill>
            <a:srgbClr val="1E1A3A"/>
          </a:solidFill>
          <a:ln w="12700">
            <a:solidFill>
              <a:srgbClr val="1E1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3703320"/>
            <a:ext cx="530352" cy="237744"/>
          </a:xfrm>
          <a:prstGeom prst="rect">
            <a:avLst/>
          </a:prstGeom>
          <a:solidFill>
            <a:srgbClr val="7C6FF0"/>
          </a:solidFill>
          <a:ln w="12700">
            <a:solidFill>
              <a:srgbClr val="7C6F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96512" y="368503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  ·  1.000.000 PGM  ·  6m cliff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FCF"/>
                </a:solidFill>
              </a:rPr>
              <a:t>SUSTENTABILIDADE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econômico para durar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1600200"/>
          </a:xfrm>
          <a:prstGeom prst="rect">
            <a:avLst/>
          </a:prstGeom>
          <a:solidFill>
            <a:srgbClr val="16132B"/>
          </a:solidFill>
          <a:ln w="12700">
            <a:solidFill>
              <a:srgbClr val="5B4FC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16002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81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1847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 Fixo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22128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 PGM sem emissão adicional. Nenhum mint após deploy.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206240" cy="1600200"/>
          </a:xfrm>
          <a:prstGeom prst="rect">
            <a:avLst/>
          </a:prstGeom>
          <a:solidFill>
            <a:srgbClr val="16132B"/>
          </a:solidFill>
          <a:ln w="12700">
            <a:solidFill>
              <a:srgbClr val="14B8A6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481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73752" y="1847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Captura de Valor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73752" y="22128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Taxa de 2% por transação → reserva do ecossistema → recompensas e desenvolvimento.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206240" cy="1600200"/>
          </a:xfrm>
          <a:prstGeom prst="rect">
            <a:avLst/>
          </a:prstGeom>
          <a:solidFill>
            <a:srgbClr val="16132B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54680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64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8912" y="3630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Velocity Control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" y="39959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de acesso cria razão para manter PGM. Menos V na equação MV=PQ → estabilidade.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206240" cy="1600200"/>
          </a:xfrm>
          <a:prstGeom prst="rect">
            <a:avLst/>
          </a:prstGeom>
          <a:solidFill>
            <a:srgbClr val="16132B"/>
          </a:solidFill>
          <a:ln w="12700">
            <a:solidFill>
              <a:srgbClr val="7C6FF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54680"/>
            <a:ext cx="64008" cy="1600200"/>
          </a:xfrm>
          <a:prstGeom prst="rect">
            <a:avLst/>
          </a:prstGeom>
          <a:solidFill>
            <a:srgbClr val="7C6FF0"/>
          </a:solidFill>
          <a:ln w="12700">
            <a:solidFill>
              <a:srgbClr val="7C6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264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6F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73752" y="3630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Vesting da Equipe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73752" y="39959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meses cliff + 24 meses linear. Equipe alinhada ao longo prazo.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1E1A3A"/>
          </a:solidFill>
          <a:ln w="12700">
            <a:solidFill>
              <a:srgbClr val="5B4FC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Bônus: o mecanismo BME (Aula 02) pode ser integrado ao PGM para queima adaptativa por bloco — tornando o token deflacionário em alta demanda.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5B4FCF">
              <a:alpha val="10000"/>
            </a:srgbClr>
          </a:solidFill>
          <a:ln w="12700">
            <a:solidFill>
              <a:srgbClr val="5B4FC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6FF0">
              <a:alpha val="12000"/>
            </a:srgbClr>
          </a:solidFill>
          <a:ln w="12700">
            <a:solidFill>
              <a:srgbClr val="7C6FF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B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Pragma Protocol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token que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alinha o ecossistema.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4F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Fixo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4F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3464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 → Ecossistema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4F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4632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PGM → Premium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4F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ERC-20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5800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Sepolia Testnet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4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github.com/seu-usuario/pragma-protocol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Pragma Protocol — Pitch</dc:title>
  <dc:subject>PptxGenJS Presentation</dc:subject>
  <dc:creator>Dan — Pragma Protocol</dc:creator>
  <cp:lastModifiedBy>Dan — Pragma Protocol</cp:lastModifiedBy>
  <cp:revision>1</cp:revision>
  <dcterms:created xsi:type="dcterms:W3CDTF">2026-02-28T05:09:15Z</dcterms:created>
  <dcterms:modified xsi:type="dcterms:W3CDTF">2026-02-28T05:09:15Z</dcterms:modified>
</cp:coreProperties>
</file>