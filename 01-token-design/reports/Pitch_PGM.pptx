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5143500" cx="9144000"/>
  <p:notesSz cx="5143500" cy="9144000"/>
  <p:embeddedFontLst>
    <p:embeddedFont>
      <p:font typeface="Arial Black"/>
      <p:regular r:id="rId1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3" roundtripDataSignature="AMtx7mj1kNux7brDUWhQ/BW61KRmOCKB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customschemas.google.com/relationships/presentationmetadata" Target="metadata"/><Relationship Id="rId12" Type="http://schemas.openxmlformats.org/officeDocument/2006/relationships/font" Target="fonts/ArialBlack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" name="Google Shape;2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" name="Google Shape;4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60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5B4FCF"/>
          </a:solidFill>
          <a:ln cap="flat" cmpd="sng" w="12700">
            <a:solidFill>
              <a:srgbClr val="5B4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217920" y="-1097280"/>
            <a:ext cx="4114800" cy="4114800"/>
          </a:xfrm>
          <a:prstGeom prst="ellipse">
            <a:avLst/>
          </a:prstGeom>
          <a:solidFill>
            <a:srgbClr val="5B4FCF">
              <a:alpha val="12156"/>
            </a:srgbClr>
          </a:solidFill>
          <a:ln cap="flat" cmpd="sng" w="12700">
            <a:solidFill>
              <a:srgbClr val="7C6FF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6858000" y="-457200"/>
            <a:ext cx="2743200" cy="2743200"/>
          </a:xfrm>
          <a:prstGeom prst="ellipse">
            <a:avLst/>
          </a:prstGeom>
          <a:solidFill>
            <a:srgbClr val="5B4FCF">
              <a:alpha val="20000"/>
            </a:srgbClr>
          </a:solidFill>
          <a:ln cap="flat" cmpd="sng" w="12700">
            <a:solidFill>
              <a:srgbClr val="B8B2F8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502920" y="1097280"/>
            <a:ext cx="1371600" cy="292608"/>
          </a:xfrm>
          <a:prstGeom prst="roundRect">
            <a:avLst>
              <a:gd fmla="val 15625" name="adj"/>
            </a:avLst>
          </a:prstGeom>
          <a:solidFill>
            <a:srgbClr val="5B4FCF">
              <a:alpha val="40000"/>
            </a:srgbClr>
          </a:solidFill>
          <a:ln cap="flat" cmpd="sng" w="12700">
            <a:solidFill>
              <a:srgbClr val="7C6F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502920" y="109728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B2F8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B8B2F8"/>
                </a:solidFill>
                <a:latin typeface="Calibri"/>
                <a:ea typeface="Calibri"/>
                <a:cs typeface="Calibri"/>
                <a:sym typeface="Calibri"/>
              </a:rPr>
              <a:t>ERC-20  ·  SEPOLIA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11480" y="1508760"/>
            <a:ext cx="82296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800"/>
              <a:buFont typeface="Arial Black"/>
              <a:buNone/>
            </a:pPr>
            <a:r>
              <a:rPr b="1" i="0" lang="en-US" sz="88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PRAGMA</a:t>
            </a:r>
            <a:endParaRPr b="0" i="0" sz="8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11480" y="2514600"/>
            <a:ext cx="8229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4FCF"/>
              </a:buClr>
              <a:buSzPts val="8800"/>
              <a:buFont typeface="Arial Black"/>
              <a:buNone/>
            </a:pPr>
            <a:r>
              <a:rPr b="1" i="0" lang="en-US" sz="8800" u="none" cap="none" strike="noStrike">
                <a:solidFill>
                  <a:srgbClr val="5B4FCF"/>
                </a:solidFill>
                <a:latin typeface="Arial Black"/>
                <a:ea typeface="Arial Black"/>
                <a:cs typeface="Arial Black"/>
                <a:sym typeface="Arial Black"/>
              </a:rPr>
              <a:t>PROTOCOL</a:t>
            </a:r>
            <a:endParaRPr b="0" i="0" sz="8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411480" y="35204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2F8"/>
              </a:buClr>
              <a:buSzPts val="2200"/>
              <a:buFont typeface="Georgia"/>
              <a:buNone/>
            </a:pPr>
            <a:r>
              <a:rPr b="0" i="1" lang="en-US" sz="2200" u="none" cap="none" strike="noStrike">
                <a:solidFill>
                  <a:srgbClr val="B8B2F8"/>
                </a:solidFill>
                <a:latin typeface="Georgia"/>
                <a:ea typeface="Georgia"/>
                <a:cs typeface="Georgia"/>
                <a:sym typeface="Georgia"/>
              </a:rPr>
              <a:t>( PGM 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411480" y="402336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400"/>
              <a:buFont typeface="Georgia"/>
              <a:buNone/>
            </a:pPr>
            <a:r>
              <a:rPr b="0" i="0" lang="en-US" sz="1400" u="none" cap="none" strike="noStrike">
                <a:solidFill>
                  <a:srgbClr val="9090A8"/>
                </a:solidFill>
                <a:latin typeface="Georgia"/>
                <a:ea typeface="Georgia"/>
                <a:cs typeface="Georgia"/>
                <a:sym typeface="Georgia"/>
              </a:rPr>
              <a:t>Marketplace descentralizado de serviços Web3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411480" y="3977640"/>
            <a:ext cx="3200400" cy="18288"/>
          </a:xfrm>
          <a:prstGeom prst="rect">
            <a:avLst/>
          </a:prstGeom>
          <a:solidFill>
            <a:srgbClr val="5B4FCF">
              <a:alpha val="60000"/>
            </a:srgbClr>
          </a:solidFill>
          <a:ln cap="flat" cmpd="sng" w="12700">
            <a:solidFill>
              <a:srgbClr val="5B4FC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B1E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5B4FCF"/>
          </a:solidFill>
          <a:ln cap="flat" cmpd="sng" w="12700">
            <a:solidFill>
              <a:srgbClr val="5B4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274320" y="25603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4FC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4FCF"/>
                </a:solidFill>
                <a:latin typeface="Calibri"/>
                <a:ea typeface="Calibri"/>
                <a:cs typeface="Calibri"/>
                <a:sym typeface="Calibri"/>
              </a:rPr>
              <a:t>O PROBLEMA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274320" y="566928"/>
            <a:ext cx="85953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Arial Black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O mercado de serviços Web3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Arial Black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não retém valor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274320" y="1737360"/>
            <a:ext cx="2834640" cy="3063240"/>
          </a:xfrm>
          <a:prstGeom prst="rect">
            <a:avLst/>
          </a:prstGeom>
          <a:solidFill>
            <a:srgbClr val="16132B"/>
          </a:solidFill>
          <a:ln cap="flat" cmpd="sng" w="12700">
            <a:solidFill>
              <a:srgbClr val="EF4444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274320" y="1737360"/>
            <a:ext cx="2834640" cy="64008"/>
          </a:xfrm>
          <a:prstGeom prst="rect">
            <a:avLst/>
          </a:prstGeom>
          <a:solidFill>
            <a:srgbClr val="EF4444"/>
          </a:solidFill>
          <a:ln cap="flat" cmpd="sng" w="12700">
            <a:solidFill>
              <a:srgbClr val="EF444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457200" y="1901952"/>
            <a:ext cx="2468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Sem incentivo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de permanência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457200" y="2788920"/>
            <a:ext cx="246888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200"/>
              <a:buFont typeface="Georgia"/>
              <a:buNone/>
            </a:pPr>
            <a:r>
              <a:rPr b="0" i="0" lang="en-US" sz="1200" u="none" cap="none" strike="noStrike">
                <a:solidFill>
                  <a:srgbClr val="9090A8"/>
                </a:solidFill>
                <a:latin typeface="Georgia"/>
                <a:ea typeface="Georgia"/>
                <a:cs typeface="Georgia"/>
                <a:sym typeface="Georgia"/>
              </a:rPr>
              <a:t>Devs e clientes usam ETH ou stablecoins e saem do ecossistema sem deixar valor.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3246120" y="1737360"/>
            <a:ext cx="2834640" cy="3063240"/>
          </a:xfrm>
          <a:prstGeom prst="rect">
            <a:avLst/>
          </a:prstGeom>
          <a:solidFill>
            <a:srgbClr val="16132B"/>
          </a:solidFill>
          <a:ln cap="flat" cmpd="sng" w="12700">
            <a:solidFill>
              <a:srgbClr val="F59E0B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3246120" y="1737360"/>
            <a:ext cx="2834640" cy="64008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3429000" y="1901952"/>
            <a:ext cx="2468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Sem captura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de valor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3429000" y="2788920"/>
            <a:ext cx="246888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200"/>
              <a:buFont typeface="Georgia"/>
              <a:buNone/>
            </a:pPr>
            <a:r>
              <a:rPr b="0" i="0" lang="en-US" sz="1200" u="none" cap="none" strike="noStrike">
                <a:solidFill>
                  <a:srgbClr val="9090A8"/>
                </a:solidFill>
                <a:latin typeface="Georgia"/>
                <a:ea typeface="Georgia"/>
                <a:cs typeface="Georgia"/>
                <a:sym typeface="Georgia"/>
              </a:rPr>
              <a:t>A plataforma não acumula nenhum ativo próprio — zero flywheel.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6217920" y="1737360"/>
            <a:ext cx="2834640" cy="3063240"/>
          </a:xfrm>
          <a:prstGeom prst="rect">
            <a:avLst/>
          </a:prstGeom>
          <a:solidFill>
            <a:srgbClr val="16132B"/>
          </a:solidFill>
          <a:ln cap="flat" cmpd="sng" w="12700">
            <a:solidFill>
              <a:srgbClr val="5B4FCF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6217920" y="1737360"/>
            <a:ext cx="2834640" cy="64008"/>
          </a:xfrm>
          <a:prstGeom prst="rect">
            <a:avLst/>
          </a:prstGeom>
          <a:solidFill>
            <a:srgbClr val="5B4FCF"/>
          </a:solidFill>
          <a:ln cap="flat" cmpd="sng" w="12700">
            <a:solidFill>
              <a:srgbClr val="5B4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6400800" y="1901952"/>
            <a:ext cx="2468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Sem alinhamento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de incentivos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6400800" y="2788920"/>
            <a:ext cx="246888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200"/>
              <a:buFont typeface="Georgia"/>
              <a:buNone/>
            </a:pPr>
            <a:r>
              <a:rPr b="0" i="0" lang="en-US" sz="1200" u="none" cap="none" strike="noStrike">
                <a:solidFill>
                  <a:srgbClr val="9090A8"/>
                </a:solidFill>
                <a:latin typeface="Georgia"/>
                <a:ea typeface="Georgia"/>
                <a:cs typeface="Georgia"/>
                <a:sym typeface="Georgia"/>
              </a:rPr>
              <a:t>Prestadores e compradores não têm razão econômica para fidelidade.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B1E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5B4FCF"/>
          </a:solidFill>
          <a:ln cap="flat" cmpd="sng" w="12700">
            <a:solidFill>
              <a:srgbClr val="5B4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3"/>
          <p:cNvSpPr/>
          <p:nvPr/>
        </p:nvSpPr>
        <p:spPr>
          <a:xfrm>
            <a:off x="274320" y="25603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4FC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4FCF"/>
                </a:solidFill>
                <a:latin typeface="Calibri"/>
                <a:ea typeface="Calibri"/>
                <a:cs typeface="Calibri"/>
                <a:sym typeface="Calibri"/>
              </a:rPr>
              <a:t>A SOLUÇÃO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274320" y="594360"/>
            <a:ext cx="82296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PGM — o token nativo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do Pragma Protocol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274320" y="1828800"/>
            <a:ext cx="4114800" cy="2926080"/>
          </a:xfrm>
          <a:prstGeom prst="rect">
            <a:avLst/>
          </a:prstGeom>
          <a:solidFill>
            <a:srgbClr val="1E1A3A"/>
          </a:solidFill>
          <a:ln cap="flat" cmpd="sng" w="12700">
            <a:solidFill>
              <a:srgbClr val="14B8A6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3"/>
          <p:cNvSpPr/>
          <p:nvPr/>
        </p:nvSpPr>
        <p:spPr>
          <a:xfrm>
            <a:off x="274320" y="1828800"/>
            <a:ext cx="4114800" cy="64008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3"/>
          <p:cNvSpPr/>
          <p:nvPr/>
        </p:nvSpPr>
        <p:spPr>
          <a:xfrm>
            <a:off x="457200" y="2011680"/>
            <a:ext cx="1097280" cy="237744"/>
          </a:xfrm>
          <a:prstGeom prst="rect">
            <a:avLst/>
          </a:prstGeom>
          <a:solidFill>
            <a:srgbClr val="14B8A6">
              <a:alpha val="30196"/>
            </a:srgbClr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3"/>
          <p:cNvSpPr/>
          <p:nvPr/>
        </p:nvSpPr>
        <p:spPr>
          <a:xfrm>
            <a:off x="457200" y="2011680"/>
            <a:ext cx="10972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PAGAMENTO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457200" y="2340864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 Black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Meio de troca nativo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457200" y="2880360"/>
            <a:ext cx="374904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6FF"/>
              </a:buClr>
              <a:buSzPts val="1200"/>
              <a:buFont typeface="Georgia"/>
              <a:buNone/>
            </a:pPr>
            <a:r>
              <a:rPr b="0" i="0" lang="en-US" sz="1200" u="none" cap="none" strike="noStrike">
                <a:solidFill>
                  <a:srgbClr val="E8E6FF"/>
                </a:solidFill>
                <a:latin typeface="Georgia"/>
                <a:ea typeface="Georgia"/>
                <a:cs typeface="Georgia"/>
                <a:sym typeface="Georgia"/>
              </a:rPr>
              <a:t>Todas as transações do marketplace — contratação, milestones e taxas — são liquidadas em PGM.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6FF"/>
              </a:buClr>
              <a:buSzPts val="1200"/>
              <a:buFont typeface="Georgia"/>
              <a:buNone/>
            </a:pPr>
            <a:r>
              <a:rPr b="0" i="0" lang="en-US" sz="1200" u="none" cap="none" strike="noStrike">
                <a:solidFill>
                  <a:srgbClr val="E8E6FF"/>
                </a:solidFill>
                <a:latin typeface="Georgia"/>
                <a:ea typeface="Georgia"/>
                <a:cs typeface="Georgia"/>
                <a:sym typeface="Georgia"/>
              </a:rPr>
              <a:t>A plataforma retém 2% por transação → reserva do ecossistema.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4663440" y="1828800"/>
            <a:ext cx="4114800" cy="2926080"/>
          </a:xfrm>
          <a:prstGeom prst="rect">
            <a:avLst/>
          </a:prstGeom>
          <a:solidFill>
            <a:srgbClr val="1E1A3A"/>
          </a:solidFill>
          <a:ln cap="flat" cmpd="sng" w="12700">
            <a:solidFill>
              <a:srgbClr val="7C6FF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3"/>
          <p:cNvSpPr/>
          <p:nvPr/>
        </p:nvSpPr>
        <p:spPr>
          <a:xfrm>
            <a:off x="4663440" y="1828800"/>
            <a:ext cx="4114800" cy="64008"/>
          </a:xfrm>
          <a:prstGeom prst="rect">
            <a:avLst/>
          </a:prstGeom>
          <a:solidFill>
            <a:srgbClr val="7C6FF0"/>
          </a:solidFill>
          <a:ln cap="flat" cmpd="sng" w="12700">
            <a:solidFill>
              <a:srgbClr val="7C6F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3"/>
          <p:cNvSpPr/>
          <p:nvPr/>
        </p:nvSpPr>
        <p:spPr>
          <a:xfrm>
            <a:off x="4846320" y="2011680"/>
            <a:ext cx="1097280" cy="237744"/>
          </a:xfrm>
          <a:prstGeom prst="rect">
            <a:avLst/>
          </a:prstGeom>
          <a:solidFill>
            <a:srgbClr val="7C6FF0">
              <a:alpha val="30196"/>
            </a:srgbClr>
          </a:solidFill>
          <a:ln cap="flat" cmpd="sng" w="12700">
            <a:solidFill>
              <a:srgbClr val="7C6F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3"/>
          <p:cNvSpPr/>
          <p:nvPr/>
        </p:nvSpPr>
        <p:spPr>
          <a:xfrm>
            <a:off x="4846320" y="2011680"/>
            <a:ext cx="10972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6FF0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7C6FF0"/>
                </a:solidFill>
                <a:latin typeface="Calibri"/>
                <a:ea typeface="Calibri"/>
                <a:cs typeface="Calibri"/>
                <a:sym typeface="Calibri"/>
              </a:rPr>
              <a:t>ACESSO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4846320" y="2340864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 Black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Utility gate premium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4846320" y="2880360"/>
            <a:ext cx="374904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6FF"/>
              </a:buClr>
              <a:buSzPts val="1200"/>
              <a:buFont typeface="Georgia"/>
              <a:buNone/>
            </a:pPr>
            <a:r>
              <a:rPr b="0" i="0" lang="en-US" sz="1200" u="none" cap="none" strike="noStrike">
                <a:solidFill>
                  <a:srgbClr val="E8E6FF"/>
                </a:solidFill>
                <a:latin typeface="Georgia"/>
                <a:ea typeface="Georgia"/>
                <a:cs typeface="Georgia"/>
                <a:sym typeface="Georgia"/>
              </a:rPr>
              <a:t>Prestadores com 500+ PGM: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6FF"/>
              </a:buClr>
              <a:buSzPts val="1200"/>
              <a:buFont typeface="Georgia"/>
              <a:buNone/>
            </a:pPr>
            <a:r>
              <a:rPr b="0" i="0" lang="en-US" sz="1200" u="none" cap="none" strike="noStrike">
                <a:solidFill>
                  <a:srgbClr val="E8E6FF"/>
                </a:solidFill>
                <a:latin typeface="Georgia"/>
                <a:ea typeface="Georgia"/>
                <a:cs typeface="Georgia"/>
                <a:sym typeface="Georgia"/>
              </a:rPr>
              <a:t>→ Taxa reduzida: 1%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6FF"/>
              </a:buClr>
              <a:buSzPts val="1200"/>
              <a:buFont typeface="Georgia"/>
              <a:buNone/>
            </a:pPr>
            <a:r>
              <a:rPr b="0" i="0" lang="en-US" sz="1200" u="none" cap="none" strike="noStrike">
                <a:solidFill>
                  <a:srgbClr val="E8E6FF"/>
                </a:solidFill>
                <a:latin typeface="Georgia"/>
                <a:ea typeface="Georgia"/>
                <a:cs typeface="Georgia"/>
                <a:sym typeface="Georgia"/>
              </a:rPr>
              <a:t>→ Destaque nas listagens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6FF"/>
              </a:buClr>
              <a:buSzPts val="1200"/>
              <a:buFont typeface="Georgia"/>
              <a:buNone/>
            </a:pPr>
            <a:r>
              <a:rPr b="0" i="0" lang="en-US" sz="1200" u="none" cap="none" strike="noStrike">
                <a:solidFill>
                  <a:srgbClr val="E8E6FF"/>
                </a:solidFill>
                <a:latin typeface="Georgia"/>
                <a:ea typeface="Georgia"/>
                <a:cs typeface="Georgia"/>
                <a:sym typeface="Georgia"/>
              </a:rPr>
              <a:t>→ Prioridade em novos clientes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6FF"/>
              </a:buClr>
              <a:buSzPts val="1200"/>
              <a:buFont typeface="Georgia"/>
              <a:buNone/>
            </a:pPr>
            <a:r>
              <a:rPr b="0" i="0" lang="en-US" sz="1200" u="none" cap="none" strike="noStrike">
                <a:solidFill>
                  <a:srgbClr val="E8E6FF"/>
                </a:solidFill>
                <a:latin typeface="Georgia"/>
                <a:ea typeface="Georgia"/>
                <a:cs typeface="Georgia"/>
                <a:sym typeface="Georgia"/>
              </a:rPr>
              <a:t>Compradores com 200+ PGM: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6FF"/>
              </a:buClr>
              <a:buSzPts val="1200"/>
              <a:buFont typeface="Georgia"/>
              <a:buNone/>
            </a:pPr>
            <a:r>
              <a:rPr b="0" i="0" lang="en-US" sz="1200" u="none" cap="none" strike="noStrike">
                <a:solidFill>
                  <a:srgbClr val="E8E6FF"/>
                </a:solidFill>
                <a:latin typeface="Georgia"/>
                <a:ea typeface="Georgia"/>
                <a:cs typeface="Georgia"/>
                <a:sym typeface="Georgia"/>
              </a:rPr>
              <a:t>→ Acesso a prestadores verificados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B1E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5B4FCF"/>
          </a:solidFill>
          <a:ln cap="flat" cmpd="sng" w="12700">
            <a:solidFill>
              <a:srgbClr val="5B4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4"/>
          <p:cNvSpPr/>
          <p:nvPr/>
        </p:nvSpPr>
        <p:spPr>
          <a:xfrm>
            <a:off x="274320" y="25603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4FC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4FCF"/>
                </a:solidFill>
                <a:latin typeface="Calibri"/>
                <a:ea typeface="Calibri"/>
                <a:cs typeface="Calibri"/>
                <a:sym typeface="Calibri"/>
              </a:rPr>
              <a:t>TOKENOMICS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/>
          <p:nvPr/>
        </p:nvSpPr>
        <p:spPr>
          <a:xfrm>
            <a:off x="274320" y="594360"/>
            <a:ext cx="8595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 Black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Supply fixo · Distribuição estratégica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274320" y="1325880"/>
            <a:ext cx="2926080" cy="1371600"/>
          </a:xfrm>
          <a:prstGeom prst="rect">
            <a:avLst/>
          </a:prstGeom>
          <a:solidFill>
            <a:srgbClr val="16132B"/>
          </a:solidFill>
          <a:ln cap="flat" cmpd="sng" w="12700">
            <a:solidFill>
              <a:srgbClr val="5B4FC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4"/>
          <p:cNvSpPr/>
          <p:nvPr/>
        </p:nvSpPr>
        <p:spPr>
          <a:xfrm>
            <a:off x="228600" y="1444752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4FCF"/>
              </a:buClr>
              <a:buSzPts val="3000"/>
              <a:buFont typeface="Arial Black"/>
              <a:buNone/>
            </a:pPr>
            <a:r>
              <a:rPr b="1" i="0" lang="en-US" sz="3000" u="none" cap="none" strike="noStrike">
                <a:solidFill>
                  <a:srgbClr val="5B4FCF"/>
                </a:solidFill>
                <a:latin typeface="Arial Black"/>
                <a:ea typeface="Arial Black"/>
                <a:cs typeface="Arial Black"/>
                <a:sym typeface="Arial Black"/>
              </a:rPr>
              <a:t>10.000.000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228600" y="2084832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000"/>
              <a:buFont typeface="Georgia"/>
              <a:buNone/>
            </a:pPr>
            <a:r>
              <a:rPr b="0" i="0" lang="en-US" sz="1000" u="none" cap="none" strike="noStrike">
                <a:solidFill>
                  <a:srgbClr val="9090A8"/>
                </a:solidFill>
                <a:latin typeface="Georgia"/>
                <a:ea typeface="Georgia"/>
                <a:cs typeface="Georgia"/>
                <a:sym typeface="Georgia"/>
              </a:rPr>
              <a:t>PGM  —  Supply Total Fixo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228600" y="2423160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2C55E"/>
              </a:buClr>
              <a:buSzPts val="1000"/>
              <a:buFont typeface="Georgia"/>
              <a:buNone/>
            </a:pPr>
            <a:r>
              <a:rPr b="0" i="1" lang="en-US" sz="1000" u="none" cap="none" strike="noStrike">
                <a:solidFill>
                  <a:srgbClr val="22C55E"/>
                </a:solidFill>
                <a:latin typeface="Georgia"/>
                <a:ea typeface="Georgia"/>
                <a:cs typeface="Georgia"/>
                <a:sym typeface="Georgia"/>
              </a:rPr>
              <a:t>sem mint após deploy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3474720" y="1261872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6FF"/>
              </a:buClr>
              <a:buSzPts val="1100"/>
              <a:buFont typeface="Georgia"/>
              <a:buNone/>
            </a:pPr>
            <a:r>
              <a:rPr b="1" i="0" lang="en-US" sz="1100" u="none" cap="none" strike="noStrike">
                <a:solidFill>
                  <a:srgbClr val="E8E6FF"/>
                </a:solidFill>
                <a:latin typeface="Georgia"/>
                <a:ea typeface="Georgia"/>
                <a:cs typeface="Georgia"/>
                <a:sym typeface="Georgia"/>
              </a:rPr>
              <a:t>Venda Pública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3474720" y="1563624"/>
            <a:ext cx="5303520" cy="237744"/>
          </a:xfrm>
          <a:prstGeom prst="rect">
            <a:avLst/>
          </a:prstGeom>
          <a:solidFill>
            <a:srgbClr val="1E1A3A"/>
          </a:solidFill>
          <a:ln cap="flat" cmpd="sng" w="12700">
            <a:solidFill>
              <a:srgbClr val="1E1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4"/>
          <p:cNvSpPr/>
          <p:nvPr/>
        </p:nvSpPr>
        <p:spPr>
          <a:xfrm>
            <a:off x="3474720" y="1563624"/>
            <a:ext cx="2121408" cy="237744"/>
          </a:xfrm>
          <a:prstGeom prst="rect">
            <a:avLst/>
          </a:prstGeom>
          <a:solidFill>
            <a:srgbClr val="5B4FCF"/>
          </a:solidFill>
          <a:ln cap="flat" cmpd="sng" w="12700">
            <a:solidFill>
              <a:srgbClr val="5B4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5687568" y="1545336"/>
            <a:ext cx="33649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900"/>
              <a:buFont typeface="Georgia"/>
              <a:buNone/>
            </a:pPr>
            <a:r>
              <a:rPr b="0" i="0" lang="en-US" sz="900" u="none" cap="none" strike="noStrike">
                <a:solidFill>
                  <a:srgbClr val="9090A8"/>
                </a:solidFill>
                <a:latin typeface="Georgia"/>
                <a:ea typeface="Georgia"/>
                <a:cs typeface="Georgia"/>
                <a:sym typeface="Georgia"/>
              </a:rPr>
              <a:t>40%  ·  4.000.000 PGM  ·  Sem vesting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3474720" y="1975104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6FF"/>
              </a:buClr>
              <a:buSzPts val="1100"/>
              <a:buFont typeface="Georgia"/>
              <a:buNone/>
            </a:pPr>
            <a:r>
              <a:rPr b="1" i="0" lang="en-US" sz="1100" u="none" cap="none" strike="noStrike">
                <a:solidFill>
                  <a:srgbClr val="E8E6FF"/>
                </a:solidFill>
                <a:latin typeface="Georgia"/>
                <a:ea typeface="Georgia"/>
                <a:cs typeface="Georgia"/>
                <a:sym typeface="Georgia"/>
              </a:rPr>
              <a:t>Ecossistema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3474720" y="2276856"/>
            <a:ext cx="5303520" cy="237744"/>
          </a:xfrm>
          <a:prstGeom prst="rect">
            <a:avLst/>
          </a:prstGeom>
          <a:solidFill>
            <a:srgbClr val="1E1A3A"/>
          </a:solidFill>
          <a:ln cap="flat" cmpd="sng" w="12700">
            <a:solidFill>
              <a:srgbClr val="1E1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3474720" y="2276856"/>
            <a:ext cx="1591056" cy="237744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5157216" y="2258568"/>
            <a:ext cx="38953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900"/>
              <a:buFont typeface="Georgia"/>
              <a:buNone/>
            </a:pPr>
            <a:r>
              <a:rPr b="0" i="0" lang="en-US" sz="900" u="none" cap="none" strike="noStrike">
                <a:solidFill>
                  <a:srgbClr val="9090A8"/>
                </a:solidFill>
                <a:latin typeface="Georgia"/>
                <a:ea typeface="Georgia"/>
                <a:cs typeface="Georgia"/>
                <a:sym typeface="Georgia"/>
              </a:rPr>
              <a:t>30%  ·  3.000.000 PGM  ·  Gradual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3474720" y="2688336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6FF"/>
              </a:buClr>
              <a:buSzPts val="1100"/>
              <a:buFont typeface="Georgia"/>
              <a:buNone/>
            </a:pPr>
            <a:r>
              <a:rPr b="1" i="0" lang="en-US" sz="1100" u="none" cap="none" strike="noStrike">
                <a:solidFill>
                  <a:srgbClr val="E8E6FF"/>
                </a:solidFill>
                <a:latin typeface="Georgia"/>
                <a:ea typeface="Georgia"/>
                <a:cs typeface="Georgia"/>
                <a:sym typeface="Georgia"/>
              </a:rPr>
              <a:t>Equipe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3474720" y="2990088"/>
            <a:ext cx="5303520" cy="237744"/>
          </a:xfrm>
          <a:prstGeom prst="rect">
            <a:avLst/>
          </a:prstGeom>
          <a:solidFill>
            <a:srgbClr val="1E1A3A"/>
          </a:solidFill>
          <a:ln cap="flat" cmpd="sng" w="12700">
            <a:solidFill>
              <a:srgbClr val="1E1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4"/>
          <p:cNvSpPr/>
          <p:nvPr/>
        </p:nvSpPr>
        <p:spPr>
          <a:xfrm>
            <a:off x="3474720" y="2990088"/>
            <a:ext cx="1060704" cy="237744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4"/>
          <p:cNvSpPr/>
          <p:nvPr/>
        </p:nvSpPr>
        <p:spPr>
          <a:xfrm>
            <a:off x="4626864" y="2971800"/>
            <a:ext cx="44256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900"/>
              <a:buFont typeface="Georgia"/>
              <a:buNone/>
            </a:pPr>
            <a:r>
              <a:rPr b="0" i="0" lang="en-US" sz="900" u="none" cap="none" strike="noStrike">
                <a:solidFill>
                  <a:srgbClr val="9090A8"/>
                </a:solidFill>
                <a:latin typeface="Georgia"/>
                <a:ea typeface="Georgia"/>
                <a:cs typeface="Georgia"/>
                <a:sym typeface="Georgia"/>
              </a:rPr>
              <a:t>20%  ·  2.000.000 PGM  ·  12m cliff + 24m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3474720" y="3401568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6FF"/>
              </a:buClr>
              <a:buSzPts val="1100"/>
              <a:buFont typeface="Georgia"/>
              <a:buNone/>
            </a:pPr>
            <a:r>
              <a:rPr b="1" i="0" lang="en-US" sz="1100" u="none" cap="none" strike="noStrike">
                <a:solidFill>
                  <a:srgbClr val="E8E6FF"/>
                </a:solidFill>
                <a:latin typeface="Georgia"/>
                <a:ea typeface="Georgia"/>
                <a:cs typeface="Georgia"/>
                <a:sym typeface="Georgia"/>
              </a:rPr>
              <a:t>Reserva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3474720" y="3703320"/>
            <a:ext cx="5303520" cy="237744"/>
          </a:xfrm>
          <a:prstGeom prst="rect">
            <a:avLst/>
          </a:prstGeom>
          <a:solidFill>
            <a:srgbClr val="1E1A3A"/>
          </a:solidFill>
          <a:ln cap="flat" cmpd="sng" w="12700">
            <a:solidFill>
              <a:srgbClr val="1E1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4"/>
          <p:cNvSpPr/>
          <p:nvPr/>
        </p:nvSpPr>
        <p:spPr>
          <a:xfrm>
            <a:off x="3474720" y="3703320"/>
            <a:ext cx="530352" cy="237744"/>
          </a:xfrm>
          <a:prstGeom prst="rect">
            <a:avLst/>
          </a:prstGeom>
          <a:solidFill>
            <a:srgbClr val="7C6FF0"/>
          </a:solidFill>
          <a:ln cap="flat" cmpd="sng" w="12700">
            <a:solidFill>
              <a:srgbClr val="7C6F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4"/>
          <p:cNvSpPr/>
          <p:nvPr/>
        </p:nvSpPr>
        <p:spPr>
          <a:xfrm>
            <a:off x="4096512" y="3685032"/>
            <a:ext cx="49560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900"/>
              <a:buFont typeface="Georgia"/>
              <a:buNone/>
            </a:pPr>
            <a:r>
              <a:rPr b="0" i="0" lang="en-US" sz="900" u="none" cap="none" strike="noStrike">
                <a:solidFill>
                  <a:srgbClr val="9090A8"/>
                </a:solidFill>
                <a:latin typeface="Georgia"/>
                <a:ea typeface="Georgia"/>
                <a:cs typeface="Georgia"/>
                <a:sym typeface="Georgia"/>
              </a:rPr>
              <a:t>10%  ·  1.000.000 PGM  ·  6m cliff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B1E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5B4FCF"/>
          </a:solidFill>
          <a:ln cap="flat" cmpd="sng" w="12700">
            <a:solidFill>
              <a:srgbClr val="5B4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5"/>
          <p:cNvSpPr/>
          <p:nvPr/>
        </p:nvSpPr>
        <p:spPr>
          <a:xfrm>
            <a:off x="274320" y="2560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4FC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4FCF"/>
                </a:solidFill>
                <a:latin typeface="Calibri"/>
                <a:ea typeface="Calibri"/>
                <a:cs typeface="Calibri"/>
                <a:sym typeface="Calibri"/>
              </a:rPr>
              <a:t>SUSTENTABILIDADE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274320" y="594360"/>
            <a:ext cx="8595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 Black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Design econômico para durar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274320" y="1371600"/>
            <a:ext cx="4206240" cy="1600200"/>
          </a:xfrm>
          <a:prstGeom prst="rect">
            <a:avLst/>
          </a:prstGeom>
          <a:solidFill>
            <a:srgbClr val="16132B"/>
          </a:solidFill>
          <a:ln cap="flat" cmpd="sng" w="12700">
            <a:solidFill>
              <a:srgbClr val="5B4FCF">
                <a:alpha val="34901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274320" y="1371600"/>
            <a:ext cx="64008" cy="1600200"/>
          </a:xfrm>
          <a:prstGeom prst="rect">
            <a:avLst/>
          </a:prstGeom>
          <a:solidFill>
            <a:srgbClr val="5B4FCF"/>
          </a:solidFill>
          <a:ln cap="flat" cmpd="sng" w="12700">
            <a:solidFill>
              <a:srgbClr val="5B4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5"/>
          <p:cNvSpPr/>
          <p:nvPr/>
        </p:nvSpPr>
        <p:spPr>
          <a:xfrm>
            <a:off x="438912" y="1481328"/>
            <a:ext cx="502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4FCF"/>
              </a:buClr>
              <a:buSzPts val="2200"/>
              <a:buFont typeface="Arial Black"/>
              <a:buNone/>
            </a:pPr>
            <a:r>
              <a:rPr b="1" i="0" lang="en-US" sz="2200" u="none" cap="none" strike="noStrike">
                <a:solidFill>
                  <a:srgbClr val="5B4FCF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438912" y="1847088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 Black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Supply Fixo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438912" y="2212848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100"/>
              <a:buFont typeface="Georgia"/>
              <a:buNone/>
            </a:pPr>
            <a:r>
              <a:rPr b="0" i="0" lang="en-US" sz="1100" u="none" cap="none" strike="noStrike">
                <a:solidFill>
                  <a:srgbClr val="9090A8"/>
                </a:solidFill>
                <a:latin typeface="Georgia"/>
                <a:ea typeface="Georgia"/>
                <a:cs typeface="Georgia"/>
                <a:sym typeface="Georgia"/>
              </a:rPr>
              <a:t>10M PGM sem emissão adicional. Nenhum mint após deploy.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4709160" y="1371600"/>
            <a:ext cx="4206240" cy="1600200"/>
          </a:xfrm>
          <a:prstGeom prst="rect">
            <a:avLst/>
          </a:prstGeom>
          <a:solidFill>
            <a:srgbClr val="16132B"/>
          </a:solidFill>
          <a:ln cap="flat" cmpd="sng" w="12700">
            <a:solidFill>
              <a:srgbClr val="14B8A6">
                <a:alpha val="34901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5"/>
          <p:cNvSpPr/>
          <p:nvPr/>
        </p:nvSpPr>
        <p:spPr>
          <a:xfrm>
            <a:off x="4709160" y="1371600"/>
            <a:ext cx="64008" cy="16002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5"/>
          <p:cNvSpPr/>
          <p:nvPr/>
        </p:nvSpPr>
        <p:spPr>
          <a:xfrm>
            <a:off x="4873752" y="1481328"/>
            <a:ext cx="502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2200"/>
              <a:buFont typeface="Arial Black"/>
              <a:buNone/>
            </a:pPr>
            <a:r>
              <a:rPr b="1" i="0" lang="en-US" sz="2200" u="none" cap="none" strike="noStrike">
                <a:solidFill>
                  <a:srgbClr val="14B8A6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4873752" y="1847088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 Black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Captura de Valor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4873752" y="2212848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100"/>
              <a:buFont typeface="Georgia"/>
              <a:buNone/>
            </a:pPr>
            <a:r>
              <a:rPr b="0" i="0" lang="en-US" sz="1100" u="none" cap="none" strike="noStrike">
                <a:solidFill>
                  <a:srgbClr val="9090A8"/>
                </a:solidFill>
                <a:latin typeface="Georgia"/>
                <a:ea typeface="Georgia"/>
                <a:cs typeface="Georgia"/>
                <a:sym typeface="Georgia"/>
              </a:rPr>
              <a:t>Taxa de 2% por transação → reserva do ecossistema → recompensas e desenvolvimento.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274320" y="3154680"/>
            <a:ext cx="4206240" cy="1600200"/>
          </a:xfrm>
          <a:prstGeom prst="rect">
            <a:avLst/>
          </a:prstGeom>
          <a:solidFill>
            <a:srgbClr val="16132B"/>
          </a:solidFill>
          <a:ln cap="flat" cmpd="sng" w="12700">
            <a:solidFill>
              <a:srgbClr val="F59E0B">
                <a:alpha val="34901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5"/>
          <p:cNvSpPr/>
          <p:nvPr/>
        </p:nvSpPr>
        <p:spPr>
          <a:xfrm>
            <a:off x="274320" y="3154680"/>
            <a:ext cx="64008" cy="16002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5"/>
          <p:cNvSpPr/>
          <p:nvPr/>
        </p:nvSpPr>
        <p:spPr>
          <a:xfrm>
            <a:off x="438912" y="3264408"/>
            <a:ext cx="502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2200"/>
              <a:buFont typeface="Arial Black"/>
              <a:buNone/>
            </a:pPr>
            <a:r>
              <a:rPr b="1" i="0" lang="en-US" sz="2200" u="none" cap="none" strike="noStrike">
                <a:solidFill>
                  <a:srgbClr val="F59E0B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438912" y="3630168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 Black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Velocity Control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438912" y="3995928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100"/>
              <a:buFont typeface="Georgia"/>
              <a:buNone/>
            </a:pPr>
            <a:r>
              <a:rPr b="0" i="0" lang="en-US" sz="1100" u="none" cap="none" strike="noStrike">
                <a:solidFill>
                  <a:srgbClr val="9090A8"/>
                </a:solidFill>
                <a:latin typeface="Georgia"/>
                <a:ea typeface="Georgia"/>
                <a:cs typeface="Georgia"/>
                <a:sym typeface="Georgia"/>
              </a:rPr>
              <a:t>Premium de acesso cria razão para manter PGM. Menos V na equação MV=PQ → estabilidade.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4709160" y="3154680"/>
            <a:ext cx="4206240" cy="1600200"/>
          </a:xfrm>
          <a:prstGeom prst="rect">
            <a:avLst/>
          </a:prstGeom>
          <a:solidFill>
            <a:srgbClr val="16132B"/>
          </a:solidFill>
          <a:ln cap="flat" cmpd="sng" w="12700">
            <a:solidFill>
              <a:srgbClr val="7C6FF0">
                <a:alpha val="34901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5"/>
          <p:cNvSpPr/>
          <p:nvPr/>
        </p:nvSpPr>
        <p:spPr>
          <a:xfrm>
            <a:off x="4709160" y="3154680"/>
            <a:ext cx="64008" cy="1600200"/>
          </a:xfrm>
          <a:prstGeom prst="rect">
            <a:avLst/>
          </a:prstGeom>
          <a:solidFill>
            <a:srgbClr val="7C6FF0"/>
          </a:solidFill>
          <a:ln cap="flat" cmpd="sng" w="12700">
            <a:solidFill>
              <a:srgbClr val="7C6F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"/>
          <p:cNvSpPr/>
          <p:nvPr/>
        </p:nvSpPr>
        <p:spPr>
          <a:xfrm>
            <a:off x="4873752" y="3264408"/>
            <a:ext cx="502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6FF0"/>
              </a:buClr>
              <a:buSzPts val="2200"/>
              <a:buFont typeface="Arial Black"/>
              <a:buNone/>
            </a:pPr>
            <a:r>
              <a:rPr b="1" i="0" lang="en-US" sz="2200" u="none" cap="none" strike="noStrike">
                <a:solidFill>
                  <a:srgbClr val="7C6FF0"/>
                </a:solidFill>
                <a:latin typeface="Arial Black"/>
                <a:ea typeface="Arial Black"/>
                <a:cs typeface="Arial Black"/>
                <a:sym typeface="Arial Black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4873752" y="3630168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 Black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Vesting da Equipe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4873752" y="3995928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100"/>
              <a:buFont typeface="Georgia"/>
              <a:buNone/>
            </a:pPr>
            <a:r>
              <a:rPr b="0" i="0" lang="en-US" sz="1100" u="none" cap="none" strike="noStrike">
                <a:solidFill>
                  <a:srgbClr val="9090A8"/>
                </a:solidFill>
                <a:latin typeface="Georgia"/>
                <a:ea typeface="Georgia"/>
                <a:cs typeface="Georgia"/>
                <a:sym typeface="Georgia"/>
              </a:rPr>
              <a:t>12 meses cliff + 24 meses linear. Equipe alinhada ao longo prazo.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B1E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5B4FCF"/>
          </a:solidFill>
          <a:ln cap="flat" cmpd="sng" w="12700">
            <a:solidFill>
              <a:srgbClr val="5B4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6"/>
          <p:cNvSpPr/>
          <p:nvPr/>
        </p:nvSpPr>
        <p:spPr>
          <a:xfrm>
            <a:off x="274320" y="256032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4FC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4FCF"/>
                </a:solidFill>
                <a:latin typeface="Calibri"/>
                <a:ea typeface="Calibri"/>
                <a:cs typeface="Calibri"/>
                <a:sym typeface="Calibri"/>
              </a:rPr>
              <a:t>RISCOS E MITIGAÇÕES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274320" y="566928"/>
            <a:ext cx="85953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 Black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Nenhum design é perfeito.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 Black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Nomear o risco é parte do design.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274320" y="1627632"/>
            <a:ext cx="8595360" cy="658368"/>
          </a:xfrm>
          <a:prstGeom prst="rect">
            <a:avLst/>
          </a:prstGeom>
          <a:solidFill>
            <a:srgbClr val="16132B"/>
          </a:solidFill>
          <a:ln cap="flat" cmpd="sng" w="12700">
            <a:solidFill>
              <a:srgbClr val="F59E0B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"/>
          <p:cNvSpPr/>
          <p:nvPr/>
        </p:nvSpPr>
        <p:spPr>
          <a:xfrm>
            <a:off x="274320" y="1627632"/>
            <a:ext cx="54864" cy="658368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"/>
          <p:cNvSpPr/>
          <p:nvPr/>
        </p:nvSpPr>
        <p:spPr>
          <a:xfrm>
            <a:off x="457200" y="167335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 Black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Baixa adoção inicial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3429000" y="167335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3840480" y="1673352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6FF"/>
              </a:buClr>
              <a:buSzPts val="1100"/>
              <a:buFont typeface="Georgia"/>
              <a:buNone/>
            </a:pPr>
            <a:r>
              <a:rPr b="0" i="0" lang="en-US" sz="1100" u="none" cap="none" strike="noStrike">
                <a:solidFill>
                  <a:srgbClr val="E8E6FF"/>
                </a:solidFill>
                <a:latin typeface="Georgia"/>
                <a:ea typeface="Georgia"/>
                <a:cs typeface="Georgia"/>
                <a:sym typeface="Georgia"/>
              </a:rPr>
              <a:t>Faucet público para onboarding sem custo de entrada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274320" y="2432304"/>
            <a:ext cx="8595360" cy="658368"/>
          </a:xfrm>
          <a:prstGeom prst="rect">
            <a:avLst/>
          </a:prstGeom>
          <a:solidFill>
            <a:srgbClr val="1E1A3A"/>
          </a:solidFill>
          <a:ln cap="flat" cmpd="sng" w="12700">
            <a:solidFill>
              <a:srgbClr val="EF4444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6"/>
          <p:cNvSpPr/>
          <p:nvPr/>
        </p:nvSpPr>
        <p:spPr>
          <a:xfrm>
            <a:off x="274320" y="2432304"/>
            <a:ext cx="54864" cy="658368"/>
          </a:xfrm>
          <a:prstGeom prst="rect">
            <a:avLst/>
          </a:prstGeom>
          <a:solidFill>
            <a:srgbClr val="EF4444"/>
          </a:solidFill>
          <a:ln cap="flat" cmpd="sng" w="12700">
            <a:solidFill>
              <a:srgbClr val="EF444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6"/>
          <p:cNvSpPr/>
          <p:nvPr/>
        </p:nvSpPr>
        <p:spPr>
          <a:xfrm>
            <a:off x="457200" y="2478024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 Black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Concentração de supply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3429000" y="2478024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3840480" y="2478024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6FF"/>
              </a:buClr>
              <a:buSzPts val="1100"/>
              <a:buFont typeface="Georgia"/>
              <a:buNone/>
            </a:pPr>
            <a:r>
              <a:rPr b="0" i="0" lang="en-US" sz="1100" u="none" cap="none" strike="noStrike">
                <a:solidFill>
                  <a:srgbClr val="E8E6FF"/>
                </a:solidFill>
                <a:latin typeface="Georgia"/>
                <a:ea typeface="Georgia"/>
                <a:cs typeface="Georgia"/>
                <a:sym typeface="Georgia"/>
              </a:rPr>
              <a:t>40% em venda pública + vesting longo para equipe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274320" y="3236976"/>
            <a:ext cx="8595360" cy="658368"/>
          </a:xfrm>
          <a:prstGeom prst="rect">
            <a:avLst/>
          </a:prstGeom>
          <a:solidFill>
            <a:srgbClr val="16132B"/>
          </a:solidFill>
          <a:ln cap="flat" cmpd="sng" w="12700">
            <a:solidFill>
              <a:srgbClr val="7C6FF0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6"/>
          <p:cNvSpPr/>
          <p:nvPr/>
        </p:nvSpPr>
        <p:spPr>
          <a:xfrm>
            <a:off x="274320" y="3236976"/>
            <a:ext cx="54864" cy="658368"/>
          </a:xfrm>
          <a:prstGeom prst="rect">
            <a:avLst/>
          </a:prstGeom>
          <a:solidFill>
            <a:srgbClr val="7C6FF0"/>
          </a:solidFill>
          <a:ln cap="flat" cmpd="sng" w="12700">
            <a:solidFill>
              <a:srgbClr val="7C6F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6"/>
          <p:cNvSpPr/>
          <p:nvPr/>
        </p:nvSpPr>
        <p:spPr>
          <a:xfrm>
            <a:off x="457200" y="3282696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 Black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Volatilidade de preço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3429000" y="328269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6FF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7C6FF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"/>
          <p:cNvSpPr/>
          <p:nvPr/>
        </p:nvSpPr>
        <p:spPr>
          <a:xfrm>
            <a:off x="3840480" y="3282696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6FF"/>
              </a:buClr>
              <a:buSzPts val="1100"/>
              <a:buFont typeface="Georgia"/>
              <a:buNone/>
            </a:pPr>
            <a:r>
              <a:rPr b="0" i="0" lang="en-US" sz="1100" u="none" cap="none" strike="noStrike">
                <a:solidFill>
                  <a:srgbClr val="E8E6FF"/>
                </a:solidFill>
                <a:latin typeface="Georgia"/>
                <a:ea typeface="Georgia"/>
                <a:cs typeface="Georgia"/>
                <a:sym typeface="Georgia"/>
              </a:rPr>
              <a:t>Supply fixo + acesso premium reduz velocity (V)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/>
          <p:nvPr/>
        </p:nvSpPr>
        <p:spPr>
          <a:xfrm>
            <a:off x="274320" y="4041648"/>
            <a:ext cx="8595360" cy="658368"/>
          </a:xfrm>
          <a:prstGeom prst="rect">
            <a:avLst/>
          </a:prstGeom>
          <a:solidFill>
            <a:srgbClr val="1E1A3A"/>
          </a:solidFill>
          <a:ln cap="flat" cmpd="sng" w="12700">
            <a:solidFill>
              <a:srgbClr val="14B8A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6"/>
          <p:cNvSpPr/>
          <p:nvPr/>
        </p:nvSpPr>
        <p:spPr>
          <a:xfrm>
            <a:off x="274320" y="4041648"/>
            <a:ext cx="54864" cy="658368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6"/>
          <p:cNvSpPr/>
          <p:nvPr/>
        </p:nvSpPr>
        <p:spPr>
          <a:xfrm>
            <a:off x="457200" y="4087368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 Black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Risco regulatório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/>
          <p:nvPr/>
        </p:nvSpPr>
        <p:spPr>
          <a:xfrm>
            <a:off x="3429000" y="40873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3840480" y="4087368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6FF"/>
              </a:buClr>
              <a:buSzPts val="1100"/>
              <a:buFont typeface="Georgia"/>
              <a:buNone/>
            </a:pPr>
            <a:r>
              <a:rPr b="0" i="0" lang="en-US" sz="1100" u="none" cap="none" strike="noStrike">
                <a:solidFill>
                  <a:srgbClr val="E8E6FF"/>
                </a:solidFill>
                <a:latin typeface="Georgia"/>
                <a:ea typeface="Georgia"/>
                <a:cs typeface="Georgia"/>
                <a:sym typeface="Georgia"/>
              </a:rPr>
              <a:t>Token de utilidade pura — sem promessa de retorno financeiro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60F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7"/>
          <p:cNvSpPr/>
          <p:nvPr/>
        </p:nvSpPr>
        <p:spPr>
          <a:xfrm>
            <a:off x="-1371600" y="2286000"/>
            <a:ext cx="4572000" cy="4572000"/>
          </a:xfrm>
          <a:prstGeom prst="ellipse">
            <a:avLst/>
          </a:prstGeom>
          <a:solidFill>
            <a:srgbClr val="5B4FCF">
              <a:alpha val="10196"/>
            </a:srgbClr>
          </a:solidFill>
          <a:ln cap="flat" cmpd="sng" w="12700">
            <a:solidFill>
              <a:srgbClr val="5B4FCF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7C6FF0">
              <a:alpha val="12156"/>
            </a:srgbClr>
          </a:solidFill>
          <a:ln cap="flat" cmpd="sng" w="12700">
            <a:solidFill>
              <a:srgbClr val="7C6FF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5B4FCF"/>
          </a:solidFill>
          <a:ln cap="flat" cmpd="sng" w="12700">
            <a:solidFill>
              <a:srgbClr val="5B4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365760" y="914400"/>
            <a:ext cx="8412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B2F8"/>
              </a:buClr>
              <a:buSzPts val="1400"/>
              <a:buFont typeface="Georgia"/>
              <a:buNone/>
            </a:pPr>
            <a:r>
              <a:rPr b="0" i="1" lang="en-US" sz="1400" u="none" cap="none" strike="noStrike">
                <a:solidFill>
                  <a:srgbClr val="B8B2F8"/>
                </a:solidFill>
                <a:latin typeface="Georgia"/>
                <a:ea typeface="Georgia"/>
                <a:cs typeface="Georgia"/>
                <a:sym typeface="Georgia"/>
              </a:rPr>
              <a:t>Pragma Protocol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365760" y="1508760"/>
            <a:ext cx="841248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 Black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O token que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 Black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alinha o ecossistema.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822960" y="3474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4FCF"/>
              </a:buClr>
              <a:buSzPts val="2600"/>
              <a:buFont typeface="Arial Black"/>
              <a:buNone/>
            </a:pPr>
            <a:r>
              <a:rPr b="1" i="0" lang="en-US" sz="2600" u="none" cap="none" strike="noStrike">
                <a:solidFill>
                  <a:srgbClr val="5B4FCF"/>
                </a:solidFill>
                <a:latin typeface="Arial Black"/>
                <a:ea typeface="Arial Black"/>
                <a:cs typeface="Arial Black"/>
                <a:sym typeface="Arial Black"/>
              </a:rPr>
              <a:t>10M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822960" y="4005072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000"/>
              <a:buFont typeface="Georgia"/>
              <a:buNone/>
            </a:pPr>
            <a:r>
              <a:rPr b="0" i="0" lang="en-US" sz="1000" u="none" cap="none" strike="noStrike">
                <a:solidFill>
                  <a:srgbClr val="9090A8"/>
                </a:solidFill>
                <a:latin typeface="Georgia"/>
                <a:ea typeface="Georgia"/>
                <a:cs typeface="Georgia"/>
                <a:sym typeface="Georgia"/>
              </a:rPr>
              <a:t>Supply Fixo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2834640" y="3474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4FCF"/>
              </a:buClr>
              <a:buSzPts val="2600"/>
              <a:buFont typeface="Arial Black"/>
              <a:buNone/>
            </a:pPr>
            <a:r>
              <a:rPr b="1" i="0" lang="en-US" sz="2600" u="none" cap="none" strike="noStrike">
                <a:solidFill>
                  <a:srgbClr val="5B4FCF"/>
                </a:solidFill>
                <a:latin typeface="Arial Black"/>
                <a:ea typeface="Arial Black"/>
                <a:cs typeface="Arial Black"/>
                <a:sym typeface="Arial Black"/>
              </a:rPr>
              <a:t>2%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2834640" y="4005072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000"/>
              <a:buFont typeface="Georgia"/>
              <a:buNone/>
            </a:pPr>
            <a:r>
              <a:rPr b="0" i="0" lang="en-US" sz="1000" u="none" cap="none" strike="noStrike">
                <a:solidFill>
                  <a:srgbClr val="9090A8"/>
                </a:solidFill>
                <a:latin typeface="Georgia"/>
                <a:ea typeface="Georgia"/>
                <a:cs typeface="Georgia"/>
                <a:sym typeface="Georgia"/>
              </a:rPr>
              <a:t>Fee → Ecossistema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4846320" y="3474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4FCF"/>
              </a:buClr>
              <a:buSzPts val="2600"/>
              <a:buFont typeface="Arial Black"/>
              <a:buNone/>
            </a:pPr>
            <a:r>
              <a:rPr b="1" i="0" lang="en-US" sz="2600" u="none" cap="none" strike="noStrike">
                <a:solidFill>
                  <a:srgbClr val="5B4FCF"/>
                </a:solidFill>
                <a:latin typeface="Arial Black"/>
                <a:ea typeface="Arial Black"/>
                <a:cs typeface="Arial Black"/>
                <a:sym typeface="Arial Black"/>
              </a:rPr>
              <a:t>500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4846320" y="4005072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000"/>
              <a:buFont typeface="Georgia"/>
              <a:buNone/>
            </a:pPr>
            <a:r>
              <a:rPr b="0" i="0" lang="en-US" sz="1000" u="none" cap="none" strike="noStrike">
                <a:solidFill>
                  <a:srgbClr val="9090A8"/>
                </a:solidFill>
                <a:latin typeface="Georgia"/>
                <a:ea typeface="Georgia"/>
                <a:cs typeface="Georgia"/>
                <a:sym typeface="Georgia"/>
              </a:rPr>
              <a:t>PGM → Premium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6858000" y="3474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4FCF"/>
              </a:buClr>
              <a:buSzPts val="2600"/>
              <a:buFont typeface="Arial Black"/>
              <a:buNone/>
            </a:pPr>
            <a:r>
              <a:rPr b="1" i="0" lang="en-US" sz="2600" u="none" cap="none" strike="noStrike">
                <a:solidFill>
                  <a:srgbClr val="5B4FCF"/>
                </a:solidFill>
                <a:latin typeface="Arial Black"/>
                <a:ea typeface="Arial Black"/>
                <a:cs typeface="Arial Black"/>
                <a:sym typeface="Arial Black"/>
              </a:rPr>
              <a:t>ERC-20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7"/>
          <p:cNvSpPr/>
          <p:nvPr/>
        </p:nvSpPr>
        <p:spPr>
          <a:xfrm>
            <a:off x="6858000" y="4005072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000"/>
              <a:buFont typeface="Georgia"/>
              <a:buNone/>
            </a:pPr>
            <a:r>
              <a:rPr b="0" i="0" lang="en-US" sz="1000" u="none" cap="none" strike="noStrike">
                <a:solidFill>
                  <a:srgbClr val="9090A8"/>
                </a:solidFill>
                <a:latin typeface="Georgia"/>
                <a:ea typeface="Georgia"/>
                <a:cs typeface="Georgia"/>
                <a:sym typeface="Georgia"/>
              </a:rPr>
              <a:t>Sepolia Testnet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365760" y="461772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4FCF"/>
              </a:buClr>
              <a:buSzPts val="1100"/>
              <a:buFont typeface="Georgia"/>
              <a:buNone/>
            </a:pPr>
            <a:r>
              <a:rPr b="0" i="1" lang="en-US" sz="1100" u="none" cap="none" strike="noStrike">
                <a:solidFill>
                  <a:srgbClr val="5B4FCF"/>
                </a:solidFill>
                <a:latin typeface="Georgia"/>
                <a:ea typeface="Georgia"/>
                <a:cs typeface="Georgia"/>
                <a:sym typeface="Georgia"/>
              </a:rPr>
              <a:t>github.com/seu-usuario/pragma-protocol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2026-02-28T08:02:29Z</dcterms:created>
  <dc:creator>Dan — Pragma Protocol</dc:creator>
</cp:coreProperties>
</file>